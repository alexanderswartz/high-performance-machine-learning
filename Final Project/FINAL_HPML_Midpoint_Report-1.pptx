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hqbAtcw2FepXJEPjBTNeAYXtLg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hyperlink" Target="https://github.com/Dasika-Vaishnavi/hpml_multimodal_nanochat/" TargetMode="External"/><Relationship Id="rId6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0B4D8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00B4D8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731520" y="822960"/>
            <a:ext cx="2011680" cy="365760"/>
          </a:xfrm>
          <a:prstGeom prst="roundRect">
            <a:avLst>
              <a:gd fmla="val 50000" name="adj"/>
            </a:avLst>
          </a:prstGeom>
          <a:solidFill>
            <a:srgbClr val="00B4D8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731520" y="8229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Trebuchet MS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COMS 6998 HPML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31520" y="1463040"/>
            <a:ext cx="68580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Profiling-Driven Optimization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rebuchet MS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of a Multimodal SLM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731520" y="292608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800"/>
              <a:buFont typeface="Calibri"/>
              <a:buNone/>
            </a:pPr>
            <a:r>
              <a:rPr b="0" i="1" lang="en-US" sz="1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Efficient Vision Language Inference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31520" y="361188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731520" y="38404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Mid-point Progress Report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31520" y="420624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Sri Bhuvana Vaishnavi Dasika </a:t>
            </a: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(sd3971)    </a:t>
            </a:r>
            <a:r>
              <a:rPr lang="en-US" sz="1100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Dhanvanth Reddy Yerramreddy </a:t>
            </a:r>
            <a:r>
              <a:rPr lang="en-US" sz="1000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(dy2530)</a:t>
            </a:r>
            <a:r>
              <a:rPr lang="en-US" sz="1100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b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DF2F7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Alexander Swartz </a:t>
            </a: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(as7629)</a:t>
            </a:r>
            <a:r>
              <a:rPr b="0" i="0" lang="en-US" sz="1100" u="none" cap="none" strike="noStrike">
                <a:solidFill>
                  <a:srgbClr val="EDF2F7"/>
                </a:solidFill>
                <a:latin typeface="Calibri"/>
                <a:ea typeface="Calibri"/>
                <a:cs typeface="Calibri"/>
                <a:sym typeface="Calibri"/>
              </a:rPr>
              <a:t>   Rajvardhan Patil </a:t>
            </a: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(rp3316)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548640" y="320040"/>
            <a:ext cx="1645920" cy="320040"/>
          </a:xfrm>
          <a:prstGeom prst="roundRect">
            <a:avLst>
              <a:gd fmla="val 48571" name="adj"/>
            </a:avLst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548640" y="320040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SUMMARY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48640" y="1005840"/>
            <a:ext cx="3931920" cy="34747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548640" y="1005840"/>
            <a:ext cx="39319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4" name="Google Shape;3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2801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2"/>
          <p:cNvSpPr/>
          <p:nvPr/>
        </p:nvSpPr>
        <p:spPr>
          <a:xfrm>
            <a:off x="1371600" y="126187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A202C"/>
                </a:solidFill>
                <a:latin typeface="Trebuchet MS"/>
                <a:ea typeface="Trebuchet MS"/>
                <a:cs typeface="Trebuchet MS"/>
                <a:sym typeface="Trebuchet MS"/>
              </a:rPr>
              <a:t>Project Goals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914400" y="1828800"/>
            <a:ext cx="32004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Extend nanochat into a multimodal architecture for image captioning with vision encoder and cross-attention fusion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Profile compute, memory, and data-movement costs across preprocessing, data loading, training, and inference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Identify bottlenecks and apply targeted optimizations with quantitative before/after evaluation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Benchmark training throughput, inference latency, and GPU memory across configurations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4754880" y="1005840"/>
            <a:ext cx="39319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4754880" y="1005840"/>
            <a:ext cx="3931920" cy="54864"/>
          </a:xfrm>
          <a:prstGeom prst="rect">
            <a:avLst/>
          </a:prstGeom>
          <a:solidFill>
            <a:srgbClr val="9F7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5074920" y="1261872"/>
            <a:ext cx="411480" cy="411480"/>
          </a:xfrm>
          <a:prstGeom prst="ellipse">
            <a:avLst/>
          </a:prstGeom>
          <a:solidFill>
            <a:srgbClr val="9F7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0" name="Google Shape;4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3500" y="1325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"/>
          <p:cNvSpPr/>
          <p:nvPr/>
        </p:nvSpPr>
        <p:spPr>
          <a:xfrm>
            <a:off x="5623560" y="126187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A202C"/>
                </a:solidFill>
                <a:latin typeface="Trebuchet MS"/>
                <a:ea typeface="Trebuchet MS"/>
                <a:cs typeface="Trebuchet MS"/>
                <a:sym typeface="Trebuchet MS"/>
              </a:rPr>
              <a:t>AI Model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120640" y="173736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nanochat GPT </a:t>
            </a:r>
            <a:r>
              <a:rPr b="0" i="0" lang="en-US" sz="10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(Karpathy) with RoPE, Flash Attention, MuonAdamW optimizer. Phase 2 adds ViT/CLIP vision encoder + cross-attention fusion layers.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4754880" y="2880360"/>
            <a:ext cx="393192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4754880" y="2880360"/>
            <a:ext cx="3931920" cy="54864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5074920" y="3136392"/>
            <a:ext cx="411480" cy="411480"/>
          </a:xfrm>
          <a:prstGeom prst="ellipse">
            <a:avLst/>
          </a:pr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" name="Google Shape;4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43500" y="32004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/>
          <p:nvPr/>
        </p:nvSpPr>
        <p:spPr>
          <a:xfrm>
            <a:off x="5623560" y="3136392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A202C"/>
                </a:solidFill>
                <a:latin typeface="Trebuchet MS"/>
                <a:ea typeface="Trebuchet MS"/>
                <a:cs typeface="Trebuchet MS"/>
                <a:sym typeface="Trebuchet MS"/>
              </a:rPr>
              <a:t>Dataset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120640" y="3611880"/>
            <a:ext cx="32918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COCO Captions 2017 </a:t>
            </a:r>
            <a:r>
              <a:rPr b="0" i="0" lang="en-US" sz="10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(Karpathy splits via HuggingFace). ~414K train / ~25K val captions. Text-only pretraining now, image+text multimodal in Phase 2.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"/>
          <p:cNvSpPr/>
          <p:nvPr/>
        </p:nvSpPr>
        <p:spPr>
          <a:xfrm>
            <a:off x="548640" y="320040"/>
            <a:ext cx="2651760" cy="320040"/>
          </a:xfrm>
          <a:prstGeom prst="roundRect">
            <a:avLst>
              <a:gd fmla="val 48571" name="adj"/>
            </a:avLst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548640" y="32004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OPTIMIZATION &amp; PROFILING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548640" y="960120"/>
            <a:ext cx="260604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548640" y="960120"/>
            <a:ext cx="26060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731520" y="1143000"/>
            <a:ext cx="2240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A202C"/>
                </a:solidFill>
                <a:latin typeface="Trebuchet MS"/>
                <a:ea typeface="Trebuchet MS"/>
                <a:cs typeface="Trebuchet MS"/>
                <a:sym typeface="Trebuchet MS"/>
              </a:rPr>
              <a:t>Data Pipeline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A202C"/>
                </a:solidFill>
                <a:latin typeface="Trebuchet MS"/>
                <a:ea typeface="Trebuchet MS"/>
                <a:cs typeface="Trebuchet MS"/>
                <a:sym typeface="Trebuchet MS"/>
              </a:rPr>
              <a:t>Tuning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731520" y="1828800"/>
            <a:ext cx="2240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Tune num_workers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pin_memory=True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persistent_workers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Prefetch tuning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Non-blocking H2D copies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731520" y="3154680"/>
            <a:ext cx="2240280" cy="32004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731520" y="3154680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DataLoader wait ↓  Samples/sec ↑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3383280" y="960120"/>
            <a:ext cx="260604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3383280" y="960120"/>
            <a:ext cx="2606040" cy="54864"/>
          </a:xfrm>
          <a:prstGeom prst="rect">
            <a:avLst/>
          </a:prstGeom>
          <a:solidFill>
            <a:srgbClr val="9F7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3566160" y="1143000"/>
            <a:ext cx="2240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A202C"/>
                </a:solidFill>
                <a:latin typeface="Trebuchet MS"/>
                <a:ea typeface="Trebuchet MS"/>
                <a:cs typeface="Trebuchet MS"/>
                <a:sym typeface="Trebuchet MS"/>
              </a:rPr>
              <a:t>Mixed Precision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A202C"/>
                </a:solidFill>
                <a:latin typeface="Trebuchet MS"/>
                <a:ea typeface="Trebuchet MS"/>
                <a:cs typeface="Trebuchet MS"/>
                <a:sym typeface="Trebuchet MS"/>
              </a:rPr>
              <a:t>&amp; Memory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566160" y="1828800"/>
            <a:ext cx="2240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AMP (bf16/fp16)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Freeze vision encoder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Gradient checkpointing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FP8 on H100+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566160" y="3154680"/>
            <a:ext cx="2240280" cy="32004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3566160" y="3154680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F7AE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F7AEA"/>
                </a:solidFill>
                <a:latin typeface="Calibri"/>
                <a:ea typeface="Calibri"/>
                <a:cs typeface="Calibri"/>
                <a:sym typeface="Calibri"/>
              </a:rPr>
              <a:t>Peak VRAM ↓  Iter time 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217920" y="960120"/>
            <a:ext cx="260604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6217920" y="960120"/>
            <a:ext cx="2606040" cy="54864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6400800" y="1143000"/>
            <a:ext cx="22402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A202C"/>
                </a:solidFill>
                <a:latin typeface="Trebuchet MS"/>
                <a:ea typeface="Trebuchet MS"/>
                <a:cs typeface="Trebuchet MS"/>
                <a:sym typeface="Trebuchet MS"/>
              </a:rPr>
              <a:t>Transformer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300"/>
              <a:buFont typeface="Trebuchet MS"/>
              <a:buNone/>
            </a:pPr>
            <a:r>
              <a:rPr b="1" i="0" lang="en-US" sz="1300" u="none" cap="none" strike="noStrike">
                <a:solidFill>
                  <a:srgbClr val="1A202C"/>
                </a:solidFill>
                <a:latin typeface="Trebuchet MS"/>
                <a:ea typeface="Trebuchet MS"/>
                <a:cs typeface="Trebuchet MS"/>
                <a:sym typeface="Trebuchet MS"/>
              </a:rPr>
              <a:t>Execution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400800" y="1828800"/>
            <a:ext cx="22402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torch.compile()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FlashAttention / SDPA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KV-cache optimization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Batched decoding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400800" y="3154680"/>
            <a:ext cx="2240280" cy="320040"/>
          </a:xfrm>
          <a:prstGeom prst="rect">
            <a:avLst/>
          </a:prstGeom>
          <a:solidFill>
            <a:srgbClr val="EDF2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6400800" y="3154680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BB7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48BB78"/>
                </a:solidFill>
                <a:latin typeface="Calibri"/>
                <a:ea typeface="Calibri"/>
                <a:cs typeface="Calibri"/>
                <a:sym typeface="Calibri"/>
              </a:rPr>
              <a:t>Kernel time ↓  Tokens/sec ↑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548640" y="38862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1A202C"/>
                </a:solidFill>
                <a:latin typeface="Trebuchet MS"/>
                <a:ea typeface="Trebuchet MS"/>
                <a:cs typeface="Trebuchet MS"/>
                <a:sym typeface="Trebuchet MS"/>
              </a:rPr>
              <a:t>Profiling &amp; Analysis Tools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548640" y="4297680"/>
            <a:ext cx="260604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685800" y="4297680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PyTorch Profiler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Operator-level timing, kernel breakdown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383280" y="4297680"/>
            <a:ext cx="260604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3520440" y="4297680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torch.cuda stats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GPU memory allocation and utilization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6217920" y="4297680"/>
            <a:ext cx="2606040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6355080" y="4297680"/>
            <a:ext cx="2331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Weights &amp; Biases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Experiment tracking, loss curves, system metrics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/>
          <p:nvPr/>
        </p:nvSpPr>
        <p:spPr>
          <a:xfrm>
            <a:off x="548640" y="320040"/>
            <a:ext cx="2011680" cy="320040"/>
          </a:xfrm>
          <a:prstGeom prst="roundRect">
            <a:avLst>
              <a:gd fmla="val 48571" name="adj"/>
            </a:avLst>
          </a:pr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548640" y="32004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CURRENT PROGRESS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48640" y="914400"/>
            <a:ext cx="8138160" cy="685800"/>
          </a:xfrm>
          <a:prstGeom prst="rect">
            <a:avLst/>
          </a:prstGeom>
          <a:solidFill>
            <a:srgbClr val="0F1B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9" name="Google Shape;8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0515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4"/>
          <p:cNvSpPr/>
          <p:nvPr/>
        </p:nvSpPr>
        <p:spPr>
          <a:xfrm>
            <a:off x="1371600" y="960120"/>
            <a:ext cx="3474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W&amp;B Project  </a:t>
            </a:r>
            <a:r>
              <a:rPr b="0" i="0" lang="en-US" sz="9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wandb.ai/dasikavaishnavi-columbia-university/hpml-nanochat-multimodal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1" name="Google Shape;9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20640" y="105156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/>
          <p:nvPr/>
        </p:nvSpPr>
        <p:spPr>
          <a:xfrm>
            <a:off x="5577840" y="960120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  </a:t>
            </a:r>
            <a:r>
              <a:rPr lang="en-US" sz="9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https://github.com/Dasika-Vaishnavi/hpml_multimodal_nanochat/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548640" y="18288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600"/>
              <a:buFont typeface="Trebuchet MS"/>
              <a:buNone/>
            </a:pPr>
            <a:r>
              <a:rPr b="1" i="0" lang="en-US" sz="1600" u="none" cap="none" strike="noStrike">
                <a:solidFill>
                  <a:srgbClr val="1A202C"/>
                </a:solidFill>
                <a:latin typeface="Trebuchet MS"/>
                <a:ea typeface="Trebuchet MS"/>
                <a:cs typeface="Trebuchet MS"/>
                <a:sym typeface="Trebuchet MS"/>
              </a:rPr>
              <a:t>Results Obtained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4" name="Google Shape;9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8640" y="23774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4"/>
          <p:cNvSpPr/>
          <p:nvPr/>
        </p:nvSpPr>
        <p:spPr>
          <a:xfrm>
            <a:off x="868680" y="2286000"/>
            <a:ext cx="3657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Distributed Training (DDP)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Multi-GPU training with NCCL backend, DistributedSampler, auto-detection of torchrun environment. Single-GPU fallback supported.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6" name="Google Shape;96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54880" y="23774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4"/>
          <p:cNvSpPr/>
          <p:nvPr/>
        </p:nvSpPr>
        <p:spPr>
          <a:xfrm>
            <a:off x="5074920" y="2286000"/>
            <a:ext cx="3657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COCO Captions Dataset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~414K train / ~25K val captions loaded from Karpathy splits. GPT-2 tiktoken tokenizer. Variable-length batching with attention masks.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8" name="Google Shape;98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8640" y="32918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4"/>
          <p:cNvSpPr/>
          <p:nvPr/>
        </p:nvSpPr>
        <p:spPr>
          <a:xfrm>
            <a:off x="868680" y="3200400"/>
            <a:ext cx="3657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GPT Model (nanochat)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Transformer with RoPE, QK Norm, Flash Attention (SDPA fallback), ReLU² MLP, Smear/Backout, softcap logits. MuonAdamW optimizer.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0" name="Google Shape;10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54880" y="32918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4"/>
          <p:cNvSpPr/>
          <p:nvPr/>
        </p:nvSpPr>
        <p:spPr>
          <a:xfrm>
            <a:off x="5074920" y="3200400"/>
            <a:ext cx="3657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W&amp;B Integration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Full metric logging: train/val loss, tokens/sec, samples/sec, step time, MFU, GPU memory. DDP-aware (rank-0 only).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" name="Google Shape;10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8640" y="42062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/>
          <p:nvPr/>
        </p:nvSpPr>
        <p:spPr>
          <a:xfrm>
            <a:off x="868680" y="4114800"/>
            <a:ext cx="3657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Checkpoint System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Save/load model + optimizer + metadata. Best val_loss tracking. Training resumption support. Backward-compatible loading.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4" name="Google Shape;10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54880" y="420624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/>
          <p:nvPr/>
        </p:nvSpPr>
        <p:spPr>
          <a:xfrm>
            <a:off x="5074920" y="4114800"/>
            <a:ext cx="3657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202C"/>
                </a:solidFill>
                <a:latin typeface="Calibri"/>
                <a:ea typeface="Calibri"/>
                <a:cs typeface="Calibri"/>
                <a:sym typeface="Calibri"/>
              </a:rPr>
              <a:t>Training Pipeline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End-to-end training on COCO caption text. Cosine LR schedule with warmup. Gradient accumulation. Eval and sampling at intervals.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"/>
          <p:cNvSpPr/>
          <p:nvPr/>
        </p:nvSpPr>
        <p:spPr>
          <a:xfrm>
            <a:off x="548640" y="320040"/>
            <a:ext cx="1828800" cy="320040"/>
          </a:xfrm>
          <a:prstGeom prst="roundRect">
            <a:avLst>
              <a:gd fmla="val 48571" name="adj"/>
            </a:avLst>
          </a:prstGeom>
          <a:solidFill>
            <a:srgbClr val="ED89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548640" y="3200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WORK IN PROGRESS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548640" y="1005840"/>
            <a:ext cx="196596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548640" y="1005840"/>
            <a:ext cx="196596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1188720" y="1280160"/>
            <a:ext cx="640080" cy="64008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" name="Google Shape;11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5880" y="1417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/>
          <p:nvPr/>
        </p:nvSpPr>
        <p:spPr>
          <a:xfrm>
            <a:off x="685800" y="2103120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202C"/>
                </a:solidFill>
                <a:latin typeface="Trebuchet MS"/>
                <a:ea typeface="Trebuchet MS"/>
                <a:cs typeface="Trebuchet MS"/>
                <a:sym typeface="Trebuchet MS"/>
              </a:rPr>
              <a:t>Vision Encoder Integration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685800" y="2788920"/>
            <a:ext cx="16916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Add pretrained ViT/CLIP encoder. Implement linear/MLP projection layer mapping vision embeddings to LLM hidden size. Initially freeze encoder weights.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2697480" y="1005840"/>
            <a:ext cx="196596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2697480" y="1005840"/>
            <a:ext cx="1965960" cy="54864"/>
          </a:xfrm>
          <a:prstGeom prst="rect">
            <a:avLst/>
          </a:prstGeom>
          <a:solidFill>
            <a:srgbClr val="9F7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"/>
          <p:cNvSpPr/>
          <p:nvPr/>
        </p:nvSpPr>
        <p:spPr>
          <a:xfrm>
            <a:off x="3337560" y="1280160"/>
            <a:ext cx="640080" cy="640080"/>
          </a:xfrm>
          <a:prstGeom prst="ellipse">
            <a:avLst/>
          </a:prstGeom>
          <a:solidFill>
            <a:srgbClr val="9F7A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2" name="Google Shape;122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4720" y="1417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5"/>
          <p:cNvSpPr/>
          <p:nvPr/>
        </p:nvSpPr>
        <p:spPr>
          <a:xfrm>
            <a:off x="2834640" y="2103120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202C"/>
                </a:solidFill>
                <a:latin typeface="Trebuchet MS"/>
                <a:ea typeface="Trebuchet MS"/>
                <a:cs typeface="Trebuchet MS"/>
                <a:sym typeface="Trebuchet MS"/>
              </a:rPr>
              <a:t>Cross-Attention Fusion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2834640" y="2788920"/>
            <a:ext cx="16916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Insert cross-attention blocks in upper transformer layers. Train on COCO image+caption pairs for image captioning. Evaluate with BLEU/CIDEr metrics.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4846320" y="1005840"/>
            <a:ext cx="196596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4846320" y="1005840"/>
            <a:ext cx="1965960" cy="54864"/>
          </a:xfrm>
          <a:prstGeom prst="rect">
            <a:avLst/>
          </a:pr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5486400" y="1280160"/>
            <a:ext cx="640080" cy="640080"/>
          </a:xfrm>
          <a:prstGeom prst="ellipse">
            <a:avLst/>
          </a:prstGeom>
          <a:solidFill>
            <a:srgbClr val="48BB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8" name="Google Shape;12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23560" y="1417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/>
          <p:nvPr/>
        </p:nvSpPr>
        <p:spPr>
          <a:xfrm>
            <a:off x="4983480" y="2103120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202C"/>
                </a:solidFill>
                <a:latin typeface="Trebuchet MS"/>
                <a:ea typeface="Trebuchet MS"/>
                <a:cs typeface="Trebuchet MS"/>
                <a:sym typeface="Trebuchet MS"/>
              </a:rPr>
              <a:t>Profiling &amp; Optimization Passes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4983480" y="2788920"/>
            <a:ext cx="16916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Profile every pipeline stage with PyTorch Profiler. Apply AMP (bf16/fp16), torch.compile(), FlashAttention, KV-cache. Measure before/after improvements.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6995160" y="1005840"/>
            <a:ext cx="196596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6995160" y="1005840"/>
            <a:ext cx="1965960" cy="54864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7635240" y="1280160"/>
            <a:ext cx="640080" cy="640080"/>
          </a:xfrm>
          <a:prstGeom prst="ellipse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4" name="Google Shape;134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72400" y="14173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/>
          <p:nvPr/>
        </p:nvSpPr>
        <p:spPr>
          <a:xfrm>
            <a:off x="7132320" y="2103120"/>
            <a:ext cx="16916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02C"/>
              </a:buClr>
              <a:buSzPts val="1200"/>
              <a:buFont typeface="Trebuchet MS"/>
              <a:buNone/>
            </a:pPr>
            <a:r>
              <a:rPr b="1" i="0" lang="en-US" sz="1200" u="none" cap="none" strike="noStrike">
                <a:solidFill>
                  <a:srgbClr val="1A202C"/>
                </a:solidFill>
                <a:latin typeface="Trebuchet MS"/>
                <a:ea typeface="Trebuchet MS"/>
                <a:cs typeface="Trebuchet MS"/>
                <a:sym typeface="Trebuchet MS"/>
              </a:rPr>
              <a:t>Inference Benchmarking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7132320" y="2788920"/>
            <a:ext cx="169164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Measure inference latency and tokens/sec at batch sizes 1, 4, 16. Evaluate autoregressive decoding with and without KV-cache. Optional edge-device demo.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0B4D8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548640" y="320040"/>
            <a:ext cx="2560320" cy="320040"/>
          </a:xfrm>
          <a:prstGeom prst="roundRect">
            <a:avLst>
              <a:gd fmla="val 48571" name="adj"/>
            </a:avLst>
          </a:prstGeom>
          <a:solidFill>
            <a:srgbClr val="ED89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548640" y="32004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Trebuchet M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BLOCKERS &amp; LIMITATIONS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548640" y="1005840"/>
            <a:ext cx="3977640" cy="1737360"/>
          </a:xfrm>
          <a:prstGeom prst="rect">
            <a:avLst/>
          </a:prstGeom>
          <a:solidFill>
            <a:srgbClr val="0A1220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548640" y="1005840"/>
            <a:ext cx="54864" cy="173736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777240" y="1234440"/>
            <a:ext cx="457200" cy="457200"/>
          </a:xfrm>
          <a:prstGeom prst="ellipse">
            <a:avLst/>
          </a:prstGeom>
          <a:solidFill>
            <a:srgbClr val="ED8936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8" name="Google Shape;14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1325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6"/>
          <p:cNvSpPr/>
          <p:nvPr/>
        </p:nvSpPr>
        <p:spPr>
          <a:xfrm>
            <a:off x="1371600" y="11887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GPU Memory Constraints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1371600" y="1600200"/>
            <a:ext cx="29260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T4/L4 GPUs have 16/24 GB VRAM. Adding a vision encoder and cross-attention layers in Phase 2 will significantly increase memory footprint. May require gradient checkpointing or model size reduction.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4754880" y="1005840"/>
            <a:ext cx="3977640" cy="1737360"/>
          </a:xfrm>
          <a:prstGeom prst="rect">
            <a:avLst/>
          </a:prstGeom>
          <a:solidFill>
            <a:srgbClr val="0A1220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4754880" y="1005840"/>
            <a:ext cx="54864" cy="173736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4983480" y="1234440"/>
            <a:ext cx="457200" cy="457200"/>
          </a:xfrm>
          <a:prstGeom prst="ellipse">
            <a:avLst/>
          </a:prstGeom>
          <a:solidFill>
            <a:srgbClr val="ED8936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4" name="Google Shape;15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4920" y="132588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6"/>
          <p:cNvSpPr/>
          <p:nvPr/>
        </p:nvSpPr>
        <p:spPr>
          <a:xfrm>
            <a:off x="5577840" y="118872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Short Caption Sequences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5577840" y="1600200"/>
            <a:ext cx="29260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COCO captions average ~12 tokens, much shorter than typical LLM training data. This changes training dynamics: high padding overhead, fast iterations but less context per sample. Concatenation or packing strategies may help.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548640" y="2971800"/>
            <a:ext cx="3977640" cy="1737360"/>
          </a:xfrm>
          <a:prstGeom prst="rect">
            <a:avLst/>
          </a:prstGeom>
          <a:solidFill>
            <a:srgbClr val="0A1220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548640" y="2971800"/>
            <a:ext cx="54864" cy="173736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777240" y="3200400"/>
            <a:ext cx="457200" cy="457200"/>
          </a:xfrm>
          <a:prstGeom prst="ellipse">
            <a:avLst/>
          </a:prstGeom>
          <a:solidFill>
            <a:srgbClr val="ED8936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0" name="Google Shape;16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680" y="32918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6"/>
          <p:cNvSpPr/>
          <p:nvPr/>
        </p:nvSpPr>
        <p:spPr>
          <a:xfrm>
            <a:off x="1371600" y="31546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Data Pipeline Overhead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1371600" y="3566160"/>
            <a:ext cx="29260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Image preprocessing (resize, normalize) and host-to-device transfer can stall GPU utilization in the multimodal phase. Needs profiling to determine optimal num_workers, prefetch factor, and non-blocking copy strategy.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4754880" y="2971800"/>
            <a:ext cx="3977640" cy="1737360"/>
          </a:xfrm>
          <a:prstGeom prst="rect">
            <a:avLst/>
          </a:prstGeom>
          <a:solidFill>
            <a:srgbClr val="0A1220"/>
          </a:solidFill>
          <a:ln>
            <a:noFill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4754880" y="2971800"/>
            <a:ext cx="54864" cy="1737360"/>
          </a:xfrm>
          <a:prstGeom prst="rect">
            <a:avLst/>
          </a:prstGeom>
          <a:solidFill>
            <a:srgbClr val="ED89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4983480" y="3200400"/>
            <a:ext cx="457200" cy="457200"/>
          </a:xfrm>
          <a:prstGeom prst="ellipse">
            <a:avLst/>
          </a:prstGeom>
          <a:solidFill>
            <a:srgbClr val="ED8936">
              <a:alpha val="2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74920" y="329184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6"/>
          <p:cNvSpPr/>
          <p:nvPr/>
        </p:nvSpPr>
        <p:spPr>
          <a:xfrm>
            <a:off x="5577840" y="315468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Trebuchet M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Training Stability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5577840" y="3566160"/>
            <a:ext cx="292608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71809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718096"/>
                </a:solidFill>
                <a:latin typeface="Calibri"/>
                <a:ea typeface="Calibri"/>
                <a:cs typeface="Calibri"/>
                <a:sym typeface="Calibri"/>
              </a:rPr>
              <a:t>Jointly training vision and language modules may destabilize optimization. Fusion compute (cross-attention) adds costly matrix multiplications. Careful learning rate tuning and staged unfreezing will be required.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2026-04-07T02:18:13Z</dcterms:created>
  <dc:creator>Team: dy2530, sd3971, as7629, rp3316</dc:creator>
</cp:coreProperties>
</file>